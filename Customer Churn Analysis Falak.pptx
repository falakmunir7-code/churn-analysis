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B7CB7D-B3D2-4BFF-A575-10FEC3DB943E}" v="4" dt="2026-01-27T09:36:07.0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61" d="100"/>
          <a:sy n="61" d="100"/>
        </p:scale>
        <p:origin x="36" y="23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lak munir" userId="f9f800eeec8c3306" providerId="LiveId" clId="{41AFDEF1-60B5-4815-B978-AF00C2F6F4DE}"/>
    <pc:docChg chg="custSel addSld delSld modSld">
      <pc:chgData name="falak munir" userId="f9f800eeec8c3306" providerId="LiveId" clId="{41AFDEF1-60B5-4815-B978-AF00C2F6F4DE}" dt="2026-01-27T09:56:39.974" v="129" actId="120"/>
      <pc:docMkLst>
        <pc:docMk/>
      </pc:docMkLst>
      <pc:sldChg chg="modSp mod">
        <pc:chgData name="falak munir" userId="f9f800eeec8c3306" providerId="LiveId" clId="{41AFDEF1-60B5-4815-B978-AF00C2F6F4DE}" dt="2026-01-27T09:42:50.634" v="127" actId="113"/>
        <pc:sldMkLst>
          <pc:docMk/>
          <pc:sldMk cId="2526599741" sldId="257"/>
        </pc:sldMkLst>
        <pc:spChg chg="mod">
          <ac:chgData name="falak munir" userId="f9f800eeec8c3306" providerId="LiveId" clId="{41AFDEF1-60B5-4815-B978-AF00C2F6F4DE}" dt="2026-01-27T09:42:50.634" v="127" actId="113"/>
          <ac:spMkLst>
            <pc:docMk/>
            <pc:sldMk cId="2526599741" sldId="257"/>
            <ac:spMk id="2" creationId="{B28A63B6-8E70-C6B9-B272-592665CAD3AD}"/>
          </ac:spMkLst>
        </pc:spChg>
      </pc:sldChg>
      <pc:sldChg chg="modSp mod">
        <pc:chgData name="falak munir" userId="f9f800eeec8c3306" providerId="LiveId" clId="{41AFDEF1-60B5-4815-B978-AF00C2F6F4DE}" dt="2026-01-27T09:56:33.439" v="128" actId="20577"/>
        <pc:sldMkLst>
          <pc:docMk/>
          <pc:sldMk cId="2573220856" sldId="259"/>
        </pc:sldMkLst>
        <pc:spChg chg="mod">
          <ac:chgData name="falak munir" userId="f9f800eeec8c3306" providerId="LiveId" clId="{41AFDEF1-60B5-4815-B978-AF00C2F6F4DE}" dt="2026-01-27T09:56:33.439" v="128" actId="20577"/>
          <ac:spMkLst>
            <pc:docMk/>
            <pc:sldMk cId="2573220856" sldId="259"/>
            <ac:spMk id="2" creationId="{5927F54C-6AB9-D756-3697-FF25F03E0B93}"/>
          </ac:spMkLst>
        </pc:spChg>
        <pc:spChg chg="mod">
          <ac:chgData name="falak munir" userId="f9f800eeec8c3306" providerId="LiveId" clId="{41AFDEF1-60B5-4815-B978-AF00C2F6F4DE}" dt="2026-01-27T09:33:19.023" v="76" actId="27636"/>
          <ac:spMkLst>
            <pc:docMk/>
            <pc:sldMk cId="2573220856" sldId="259"/>
            <ac:spMk id="3" creationId="{1283EDC7-5F60-8F76-6CD2-626E8863BDDD}"/>
          </ac:spMkLst>
        </pc:spChg>
      </pc:sldChg>
      <pc:sldChg chg="addSp delSp modSp mod">
        <pc:chgData name="falak munir" userId="f9f800eeec8c3306" providerId="LiveId" clId="{41AFDEF1-60B5-4815-B978-AF00C2F6F4DE}" dt="2026-01-27T09:41:31.837" v="110" actId="20577"/>
        <pc:sldMkLst>
          <pc:docMk/>
          <pc:sldMk cId="3482731963" sldId="260"/>
        </pc:sldMkLst>
        <pc:spChg chg="mod">
          <ac:chgData name="falak munir" userId="f9f800eeec8c3306" providerId="LiveId" clId="{41AFDEF1-60B5-4815-B978-AF00C2F6F4DE}" dt="2026-01-27T09:41:31.837" v="110" actId="20577"/>
          <ac:spMkLst>
            <pc:docMk/>
            <pc:sldMk cId="3482731963" sldId="260"/>
            <ac:spMk id="8" creationId="{11C2B94C-7149-E0E8-CA1A-468026BEA788}"/>
          </ac:spMkLst>
        </pc:spChg>
        <pc:picChg chg="add mod">
          <ac:chgData name="falak munir" userId="f9f800eeec8c3306" providerId="LiveId" clId="{41AFDEF1-60B5-4815-B978-AF00C2F6F4DE}" dt="2026-01-27T09:25:09.482" v="11" actId="1076"/>
          <ac:picMkLst>
            <pc:docMk/>
            <pc:sldMk cId="3482731963" sldId="260"/>
            <ac:picMk id="3" creationId="{F2420FD3-D29F-8B35-9EF1-4BCC147326E8}"/>
          </ac:picMkLst>
        </pc:picChg>
        <pc:picChg chg="del">
          <ac:chgData name="falak munir" userId="f9f800eeec8c3306" providerId="LiveId" clId="{41AFDEF1-60B5-4815-B978-AF00C2F6F4DE}" dt="2026-01-27T09:24:05.568" v="7" actId="478"/>
          <ac:picMkLst>
            <pc:docMk/>
            <pc:sldMk cId="3482731963" sldId="260"/>
            <ac:picMk id="7" creationId="{B95A6A99-0DE0-7ABD-6D3F-399A03DA4256}"/>
          </ac:picMkLst>
        </pc:picChg>
      </pc:sldChg>
      <pc:sldChg chg="addSp delSp modSp mod">
        <pc:chgData name="falak munir" userId="f9f800eeec8c3306" providerId="LiveId" clId="{41AFDEF1-60B5-4815-B978-AF00C2F6F4DE}" dt="2026-01-27T09:41:49.952" v="116" actId="20577"/>
        <pc:sldMkLst>
          <pc:docMk/>
          <pc:sldMk cId="3640809759" sldId="261"/>
        </pc:sldMkLst>
        <pc:spChg chg="mod">
          <ac:chgData name="falak munir" userId="f9f800eeec8c3306" providerId="LiveId" clId="{41AFDEF1-60B5-4815-B978-AF00C2F6F4DE}" dt="2026-01-27T09:41:49.952" v="116" actId="20577"/>
          <ac:spMkLst>
            <pc:docMk/>
            <pc:sldMk cId="3640809759" sldId="261"/>
            <ac:spMk id="7" creationId="{94345ADB-04A9-952B-0F4E-FE498E86BCE3}"/>
          </ac:spMkLst>
        </pc:spChg>
        <pc:picChg chg="add mod">
          <ac:chgData name="falak munir" userId="f9f800eeec8c3306" providerId="LiveId" clId="{41AFDEF1-60B5-4815-B978-AF00C2F6F4DE}" dt="2026-01-27T09:25:49.870" v="15" actId="14100"/>
          <ac:picMkLst>
            <pc:docMk/>
            <pc:sldMk cId="3640809759" sldId="261"/>
            <ac:picMk id="4" creationId="{790AF2FE-042E-9DB5-8E12-58B78F2442AC}"/>
          </ac:picMkLst>
        </pc:picChg>
        <pc:picChg chg="del">
          <ac:chgData name="falak munir" userId="f9f800eeec8c3306" providerId="LiveId" clId="{41AFDEF1-60B5-4815-B978-AF00C2F6F4DE}" dt="2026-01-27T09:25:14.058" v="12" actId="478"/>
          <ac:picMkLst>
            <pc:docMk/>
            <pc:sldMk cId="3640809759" sldId="261"/>
            <ac:picMk id="5" creationId="{605A0D19-4F89-E2CB-0ABC-6CAF643FE625}"/>
          </ac:picMkLst>
        </pc:picChg>
      </pc:sldChg>
      <pc:sldChg chg="addSp delSp modSp mod">
        <pc:chgData name="falak munir" userId="f9f800eeec8c3306" providerId="LiveId" clId="{41AFDEF1-60B5-4815-B978-AF00C2F6F4DE}" dt="2026-01-27T09:42:07.398" v="121" actId="20577"/>
        <pc:sldMkLst>
          <pc:docMk/>
          <pc:sldMk cId="1362775402" sldId="262"/>
        </pc:sldMkLst>
        <pc:spChg chg="mod">
          <ac:chgData name="falak munir" userId="f9f800eeec8c3306" providerId="LiveId" clId="{41AFDEF1-60B5-4815-B978-AF00C2F6F4DE}" dt="2026-01-27T09:42:07.398" v="121" actId="20577"/>
          <ac:spMkLst>
            <pc:docMk/>
            <pc:sldMk cId="1362775402" sldId="262"/>
            <ac:spMk id="7" creationId="{92836502-2A56-096E-88EE-36D7A8B943C7}"/>
          </ac:spMkLst>
        </pc:spChg>
        <pc:picChg chg="add mod">
          <ac:chgData name="falak munir" userId="f9f800eeec8c3306" providerId="LiveId" clId="{41AFDEF1-60B5-4815-B978-AF00C2F6F4DE}" dt="2026-01-27T09:26:22.797" v="19" actId="14100"/>
          <ac:picMkLst>
            <pc:docMk/>
            <pc:sldMk cId="1362775402" sldId="262"/>
            <ac:picMk id="4" creationId="{245CAC8E-769D-D2A4-0812-60D41A715428}"/>
          </ac:picMkLst>
        </pc:picChg>
        <pc:picChg chg="del">
          <ac:chgData name="falak munir" userId="f9f800eeec8c3306" providerId="LiveId" clId="{41AFDEF1-60B5-4815-B978-AF00C2F6F4DE}" dt="2026-01-27T09:26:00.493" v="16" actId="478"/>
          <ac:picMkLst>
            <pc:docMk/>
            <pc:sldMk cId="1362775402" sldId="262"/>
            <ac:picMk id="5" creationId="{6DEAFC3B-5E87-E2EE-208F-F1288677BA6B}"/>
          </ac:picMkLst>
        </pc:picChg>
      </pc:sldChg>
      <pc:sldChg chg="addSp modSp mod">
        <pc:chgData name="falak munir" userId="f9f800eeec8c3306" providerId="LiveId" clId="{41AFDEF1-60B5-4815-B978-AF00C2F6F4DE}" dt="2026-01-27T09:42:35.601" v="126" actId="20577"/>
        <pc:sldMkLst>
          <pc:docMk/>
          <pc:sldMk cId="3795135067" sldId="263"/>
        </pc:sldMkLst>
        <pc:spChg chg="mod">
          <ac:chgData name="falak munir" userId="f9f800eeec8c3306" providerId="LiveId" clId="{41AFDEF1-60B5-4815-B978-AF00C2F6F4DE}" dt="2026-01-27T09:42:35.601" v="126" actId="20577"/>
          <ac:spMkLst>
            <pc:docMk/>
            <pc:sldMk cId="3795135067" sldId="263"/>
            <ac:spMk id="5" creationId="{E8081AD4-D48B-02DE-6847-7F8BE42ACF40}"/>
          </ac:spMkLst>
        </pc:spChg>
        <pc:picChg chg="mod">
          <ac:chgData name="falak munir" userId="f9f800eeec8c3306" providerId="LiveId" clId="{41AFDEF1-60B5-4815-B978-AF00C2F6F4DE}" dt="2026-01-27T09:27:08.598" v="22" actId="14100"/>
          <ac:picMkLst>
            <pc:docMk/>
            <pc:sldMk cId="3795135067" sldId="263"/>
            <ac:picMk id="4" creationId="{41FA1A89-69E0-D0E6-57F5-37B88C33A0EF}"/>
          </ac:picMkLst>
        </pc:picChg>
        <pc:picChg chg="add mod">
          <ac:chgData name="falak munir" userId="f9f800eeec8c3306" providerId="LiveId" clId="{41AFDEF1-60B5-4815-B978-AF00C2F6F4DE}" dt="2026-01-27T09:27:15.976" v="24" actId="14100"/>
          <ac:picMkLst>
            <pc:docMk/>
            <pc:sldMk cId="3795135067" sldId="263"/>
            <ac:picMk id="6" creationId="{C4991B5F-1DA5-4DAF-F2C4-DC94C63E5B0B}"/>
          </ac:picMkLst>
        </pc:picChg>
      </pc:sldChg>
      <pc:sldChg chg="addSp delSp modSp mod modClrScheme chgLayout">
        <pc:chgData name="falak munir" userId="f9f800eeec8c3306" providerId="LiveId" clId="{41AFDEF1-60B5-4815-B978-AF00C2F6F4DE}" dt="2026-01-27T09:37:08.300" v="99" actId="115"/>
        <pc:sldMkLst>
          <pc:docMk/>
          <pc:sldMk cId="1455249233" sldId="264"/>
        </pc:sldMkLst>
        <pc:spChg chg="del">
          <ac:chgData name="falak munir" userId="f9f800eeec8c3306" providerId="LiveId" clId="{41AFDEF1-60B5-4815-B978-AF00C2F6F4DE}" dt="2026-01-27T09:34:55.626" v="79" actId="700"/>
          <ac:spMkLst>
            <pc:docMk/>
            <pc:sldMk cId="1455249233" sldId="264"/>
            <ac:spMk id="2" creationId="{E1FF9C67-99C6-3CB8-EBE6-EE5195685EE3}"/>
          </ac:spMkLst>
        </pc:spChg>
        <pc:spChg chg="add mod">
          <ac:chgData name="falak munir" userId="f9f800eeec8c3306" providerId="LiveId" clId="{41AFDEF1-60B5-4815-B978-AF00C2F6F4DE}" dt="2026-01-27T09:37:08.300" v="99" actId="115"/>
          <ac:spMkLst>
            <pc:docMk/>
            <pc:sldMk cId="1455249233" sldId="264"/>
            <ac:spMk id="3" creationId="{C9FDA15D-93F5-4372-9C6A-78E8FE40B538}"/>
          </ac:spMkLst>
        </pc:spChg>
      </pc:sldChg>
      <pc:sldChg chg="del">
        <pc:chgData name="falak munir" userId="f9f800eeec8c3306" providerId="LiveId" clId="{41AFDEF1-60B5-4815-B978-AF00C2F6F4DE}" dt="2026-01-27T09:34:45.266" v="78" actId="47"/>
        <pc:sldMkLst>
          <pc:docMk/>
          <pc:sldMk cId="3022809109" sldId="265"/>
        </pc:sldMkLst>
      </pc:sldChg>
      <pc:sldChg chg="del">
        <pc:chgData name="falak munir" userId="f9f800eeec8c3306" providerId="LiveId" clId="{41AFDEF1-60B5-4815-B978-AF00C2F6F4DE}" dt="2026-01-27T09:34:41.868" v="77" actId="47"/>
        <pc:sldMkLst>
          <pc:docMk/>
          <pc:sldMk cId="3475247999" sldId="266"/>
        </pc:sldMkLst>
      </pc:sldChg>
      <pc:sldChg chg="modSp new mod">
        <pc:chgData name="falak munir" userId="f9f800eeec8c3306" providerId="LiveId" clId="{41AFDEF1-60B5-4815-B978-AF00C2F6F4DE}" dt="2026-01-27T09:56:39.974" v="129" actId="120"/>
        <pc:sldMkLst>
          <pc:docMk/>
          <pc:sldMk cId="453917260" sldId="267"/>
        </pc:sldMkLst>
        <pc:spChg chg="mod">
          <ac:chgData name="falak munir" userId="f9f800eeec8c3306" providerId="LiveId" clId="{41AFDEF1-60B5-4815-B978-AF00C2F6F4DE}" dt="2026-01-27T09:56:39.974" v="129" actId="120"/>
          <ac:spMkLst>
            <pc:docMk/>
            <pc:sldMk cId="453917260" sldId="267"/>
            <ac:spMk id="2" creationId="{B82EE7E7-9988-0377-45A1-963FC85E308C}"/>
          </ac:spMkLst>
        </pc:spChg>
        <pc:spChg chg="mod">
          <ac:chgData name="falak munir" userId="f9f800eeec8c3306" providerId="LiveId" clId="{41AFDEF1-60B5-4815-B978-AF00C2F6F4DE}" dt="2026-01-27T09:41:05.960" v="104" actId="20577"/>
          <ac:spMkLst>
            <pc:docMk/>
            <pc:sldMk cId="453917260" sldId="267"/>
            <ac:spMk id="3" creationId="{EB4D7F18-BE95-D30D-F36A-FE3E7FE2E7D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C5116-E8C3-7E8D-A700-8CAE1353CE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275C8A-5A27-1D49-6FE9-4123BD1D3C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67442-C9F4-342D-6E7E-DCB1F9F3F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455F4-1675-4AAE-B64A-50869952907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69F459-C1A3-FF11-BE58-49EDEA958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1AD736-C117-42A1-03A6-8EB8EB647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3E8A-00F0-47C3-9C5B-9DAC0D483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937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34F64-2E7E-0C29-D93C-1925B52D0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93507-28F9-43C4-BB3E-3F4247DD1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8A44B-6A37-5356-6968-F4EA0E171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455F4-1675-4AAE-B64A-50869952907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D1116-9F7F-8A46-D832-90D5657E9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6B21D-520D-C3DD-4DFE-C378939CB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3E8A-00F0-47C3-9C5B-9DAC0D483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25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48A45-C3E1-DDBE-E9CE-B5442921F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8BEFF0-D8DB-DED3-4543-FC106E25A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37368-A6BE-7957-2FF6-71F8ADE63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455F4-1675-4AAE-B64A-50869952907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3D7C3-C811-1832-322B-DA71EAA99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3F88C-386D-7FCE-4C95-6C2217243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3E8A-00F0-47C3-9C5B-9DAC0D483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14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2AEAB-FC05-8326-0043-708D55DC7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51290-9755-A03A-4008-813A758530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4B2710-420E-3D7E-B0C0-F79AF080B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E9B434-3C2C-B0F6-38C4-E20E638CE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455F4-1675-4AAE-B64A-50869952907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0139E6-CF65-3E20-A319-F42AA0B4F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8F15D3-E3C4-60B1-B483-96CA0574E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3E8A-00F0-47C3-9C5B-9DAC0D483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779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4BD7F-FE9D-01AA-E20B-AA37B44AE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D1AADF-DC5E-6447-E605-3913FE54B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EC6BF0-43FD-258D-3D4F-0BAF90D613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B242E0-F10B-AA96-FA28-6C94298583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BD8BF-2170-4326-D009-D6C7F9C64E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ABBC90-7593-8A92-A417-30C4DADCB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455F4-1675-4AAE-B64A-50869952907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B75568-0BC5-275F-3981-B740D750F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291608-CC5D-AD63-E917-576E3D433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3E8A-00F0-47C3-9C5B-9DAC0D483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218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EBD5E-20DE-297D-B5B9-C90D1B8D5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463F7C-6244-6B68-4479-E9DEC30E5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455F4-1675-4AAE-B64A-50869952907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0F34E2-9805-B8B1-7149-4B21F3406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10634F-53CE-FD1A-018E-B911C18E1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3E8A-00F0-47C3-9C5B-9DAC0D483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436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7E68F5-0414-D335-2B4D-0E519D906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455F4-1675-4AAE-B64A-50869952907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E361A0-C2A3-0C02-1F67-FC107DCEC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4E2763-0412-6739-DC77-01F95336B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3E8A-00F0-47C3-9C5B-9DAC0D483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106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FD5FE-A195-897C-6C14-B3DF3DED4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62887-5F97-E165-F36D-B607BDC51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506B92-5CCA-21F6-5716-09D3FCD2FD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0CD5F8-B14B-CD2C-36E4-DF6E8BA7F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455F4-1675-4AAE-B64A-50869952907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044864-6CBF-AA28-B8CD-E3738ED4D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E4D517-0A33-C19C-9231-A103666CA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3E8A-00F0-47C3-9C5B-9DAC0D483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810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1F81B-8AF8-6914-3BC7-998471705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F1965A-2A8B-0023-F4EB-3C407B2B2B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2D452F-E62A-AA80-93FC-4ACC726560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694128-AAE9-4E64-7100-B4787F694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455F4-1675-4AAE-B64A-50869952907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A3E8D-FE05-7687-B705-E39FE77AC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26A9A3-4710-3276-5B9D-2A7947FEC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3E8A-00F0-47C3-9C5B-9DAC0D483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092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03F73-9B53-4E0E-5A75-3D7C2BD23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6FDA5B-3717-FFE3-6E96-327BCC8B11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39F9A1-D0C1-2745-A131-1A915EC52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455F4-1675-4AAE-B64A-50869952907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9F9F5-8D25-DD72-ABCA-2EA344335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15E04-3A9A-8AF3-95C7-4B94C8948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3E8A-00F0-47C3-9C5B-9DAC0D483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885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D73C04-05D7-9F62-6CBE-E45E53A0E7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7D97F1-E3A2-C63A-3168-DEFC349DA0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32988-8164-109D-4077-61E696D10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455F4-1675-4AAE-B64A-50869952907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14EA1-A507-F49D-BC61-BC2C8D03C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BB4B3-8F8E-9F9F-F801-CD2C08F27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3E8A-00F0-47C3-9C5B-9DAC0D483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170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8EB9BD-C4D5-CE7D-8A20-CEABE83F9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6785B4-F1F2-7995-47C8-BCADAEB866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31F41-3A08-5945-7941-76B0B8D831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5455F4-1675-4AAE-B64A-50869952907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49586-4749-438F-FA30-68ADD78988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A7D45-1490-9056-A8BD-9508C6DFF5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DD3E8A-00F0-47C3-9C5B-9DAC0D483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576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E3AD5-CF4C-DB90-D134-AB28C5D8ED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u="sng" dirty="0"/>
              <a:t>Customer Churn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CF9129-FD91-443B-510E-C5A9E0A8BF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A simple study to understand why customers leave and how businesses can reduce churn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80555D-8D34-6605-E7BB-39457855FE69}"/>
              </a:ext>
            </a:extLst>
          </p:cNvPr>
          <p:cNvSpPr txBox="1"/>
          <p:nvPr/>
        </p:nvSpPr>
        <p:spPr>
          <a:xfrm>
            <a:off x="7944338" y="5257800"/>
            <a:ext cx="54473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BY:</a:t>
            </a:r>
          </a:p>
          <a:p>
            <a:r>
              <a:rPr lang="en-US" i="1" dirty="0"/>
              <a:t>FALAK MUNIR AHMED TANGA </a:t>
            </a:r>
          </a:p>
          <a:p>
            <a:r>
              <a:rPr lang="en-US" i="1" dirty="0"/>
              <a:t>20241CSD0098</a:t>
            </a:r>
          </a:p>
          <a:p>
            <a:r>
              <a:rPr lang="en-US" i="1" dirty="0"/>
              <a:t>4CSD02</a:t>
            </a:r>
          </a:p>
        </p:txBody>
      </p:sp>
    </p:spTree>
    <p:extLst>
      <p:ext uri="{BB962C8B-B14F-4D97-AF65-F5344CB8AC3E}">
        <p14:creationId xmlns:p14="http://schemas.microsoft.com/office/powerpoint/2010/main" val="383710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63B6-8E70-C6B9-B272-592665CAD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Statement: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BE89D-033E-CD73-CCF3-942E5C128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Customer churn occurs when customers discontinue using a company’s services. A high churn rate negatively affects business growth because acquiring new customers costs more than retaining existing ones.</a:t>
            </a:r>
            <a:br>
              <a:rPr lang="en-US" dirty="0"/>
            </a:br>
            <a:r>
              <a:rPr lang="en-US" dirty="0"/>
              <a:t>To reduce churn, companies must identify </a:t>
            </a:r>
            <a:r>
              <a:rPr lang="en-US" b="1" dirty="0"/>
              <a:t>which customers are leaving and why</a:t>
            </a:r>
            <a:r>
              <a:rPr lang="en-US" dirty="0"/>
              <a:t>.</a:t>
            </a:r>
          </a:p>
          <a:p>
            <a:r>
              <a:rPr lang="en-US" dirty="0"/>
              <a:t>This analysis uses a Telco customer dataset containing demographic details, service usage, and account information. By studying churn patterns, the goal is to identify high-risk customer segments and derive insights that can help improve customer retention strategies.</a:t>
            </a:r>
          </a:p>
          <a:p>
            <a:r>
              <a:rPr lang="en-US" b="1" dirty="0"/>
              <a:t>Churn analysis helps companies stay competitive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599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D81BE-0AFF-426A-58A7-61839F168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Objectives of the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55FCE-0E93-346F-9C81-07BF9FF9F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main goals of this analysis are:</a:t>
            </a:r>
          </a:p>
          <a:p>
            <a:r>
              <a:rPr lang="en-US" dirty="0"/>
              <a:t>To study customer behavior using data</a:t>
            </a:r>
          </a:p>
          <a:p>
            <a:r>
              <a:rPr lang="en-US" dirty="0"/>
              <a:t>To identify customers who are more likely to churn</a:t>
            </a:r>
          </a:p>
          <a:p>
            <a:r>
              <a:rPr lang="en-US" dirty="0"/>
              <a:t>To understand how factors like contract type, tenure, and charges affect churn</a:t>
            </a:r>
          </a:p>
          <a:p>
            <a:r>
              <a:rPr lang="en-US" dirty="0"/>
              <a:t>To help businesses reduce churn using insights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336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7F54C-6AB9-D756-3697-FF25F03E0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Dataset Description: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3EDC7-5F60-8F76-6CD2-626E8863B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dataset used is the </a:t>
            </a:r>
            <a:r>
              <a:rPr lang="en-US" b="1" dirty="0"/>
              <a:t>Telco Customer Churn dataset</a:t>
            </a:r>
            <a:endParaRPr lang="en-US" dirty="0"/>
          </a:p>
          <a:p>
            <a:r>
              <a:rPr lang="en-US" dirty="0"/>
              <a:t>It contains details of customers from a telecom company</a:t>
            </a:r>
          </a:p>
          <a:p>
            <a:r>
              <a:rPr lang="en-US" dirty="0"/>
              <a:t>Each row represents </a:t>
            </a:r>
            <a:r>
              <a:rPr lang="en-US" b="1" dirty="0"/>
              <a:t>one individual customer</a:t>
            </a:r>
            <a:endParaRPr lang="en-US" dirty="0"/>
          </a:p>
          <a:p>
            <a:r>
              <a:rPr lang="en-US" dirty="0"/>
              <a:t>The dataset includes:</a:t>
            </a:r>
          </a:p>
          <a:p>
            <a:pPr lvl="1"/>
            <a:r>
              <a:rPr lang="en-US" dirty="0"/>
              <a:t>Customer demographic information</a:t>
            </a:r>
          </a:p>
          <a:p>
            <a:pPr lvl="1"/>
            <a:r>
              <a:rPr lang="en-US" dirty="0"/>
              <a:t>Service usage details</a:t>
            </a:r>
          </a:p>
          <a:p>
            <a:pPr lvl="1"/>
            <a:r>
              <a:rPr lang="en-US" dirty="0"/>
              <a:t>Billing and payment-related data</a:t>
            </a:r>
          </a:p>
          <a:p>
            <a:r>
              <a:rPr lang="en-US" dirty="0"/>
              <a:t>The main focus of the dataset is the </a:t>
            </a:r>
            <a:r>
              <a:rPr lang="en-US" b="1" dirty="0"/>
              <a:t>Churn variable</a:t>
            </a:r>
            <a:r>
              <a:rPr lang="en-US" dirty="0"/>
              <a:t>, which shows whether a customer left or stayed</a:t>
            </a:r>
          </a:p>
          <a:p>
            <a:r>
              <a:rPr lang="en-US" dirty="0"/>
              <a:t>This dataset helps in identifying </a:t>
            </a:r>
            <a:r>
              <a:rPr lang="en-US" b="1" dirty="0"/>
              <a:t>patterns and factors that influence customer churn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220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EE7E7-9988-0377-45A1-963FC85E3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1" dirty="0"/>
              <a:t>Goal Of This Analysis: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D7F18-BE95-D30D-F36A-FE3E7FE2E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understand </a:t>
            </a:r>
            <a:r>
              <a:rPr lang="en-US" b="1" dirty="0"/>
              <a:t>why customers leave</a:t>
            </a:r>
            <a:r>
              <a:rPr lang="en-US" dirty="0"/>
              <a:t> the company</a:t>
            </a:r>
            <a:br>
              <a:rPr lang="en-US" dirty="0"/>
            </a:br>
            <a:r>
              <a:rPr lang="en-US" dirty="0"/>
              <a:t>-To identify </a:t>
            </a:r>
            <a:r>
              <a:rPr lang="en-US" b="1" dirty="0"/>
              <a:t>which type of customers are more likely to churn</a:t>
            </a:r>
            <a:br>
              <a:rPr lang="en-US" dirty="0"/>
            </a:br>
            <a:r>
              <a:rPr lang="en-US" dirty="0"/>
              <a:t>-To study how customer details like </a:t>
            </a:r>
            <a:r>
              <a:rPr lang="en-US" b="1" dirty="0"/>
              <a:t>contract type, tenure, and charges</a:t>
            </a:r>
            <a:r>
              <a:rPr lang="en-US" dirty="0"/>
              <a:t> affect churn</a:t>
            </a:r>
            <a:br>
              <a:rPr lang="en-US" dirty="0"/>
            </a:br>
            <a:r>
              <a:rPr lang="en-US" dirty="0"/>
              <a:t>-To use data instead of assumptions for </a:t>
            </a:r>
            <a:r>
              <a:rPr lang="en-US" b="1" dirty="0"/>
              <a:t>better decision-making</a:t>
            </a:r>
            <a:br>
              <a:rPr lang="en-US" dirty="0"/>
            </a:br>
            <a:r>
              <a:rPr lang="en-US" dirty="0"/>
              <a:t>-To help businesses </a:t>
            </a:r>
            <a:r>
              <a:rPr lang="en-US" b="1" dirty="0"/>
              <a:t>reduce customer loss and improve retention strategies</a:t>
            </a:r>
            <a:br>
              <a:rPr lang="en-US" dirty="0"/>
            </a:br>
            <a:r>
              <a:rPr lang="en-US" dirty="0"/>
              <a:t>-To support companies in </a:t>
            </a:r>
            <a:r>
              <a:rPr lang="en-US" b="1" dirty="0"/>
              <a:t>improving customer experience and profitability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917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503C95-831F-2FD5-B998-80353EDC9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027" y="867510"/>
            <a:ext cx="8179238" cy="18498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1C2B94C-7149-E0E8-CA1A-468026BEA788}"/>
              </a:ext>
            </a:extLst>
          </p:cNvPr>
          <p:cNvSpPr txBox="1"/>
          <p:nvPr/>
        </p:nvSpPr>
        <p:spPr>
          <a:xfrm>
            <a:off x="281354" y="3259015"/>
            <a:ext cx="1144172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-This variable shows a </a:t>
            </a:r>
            <a:r>
              <a:rPr lang="en-US" b="1" dirty="0"/>
              <a:t>moderate relationship</a:t>
            </a:r>
            <a:r>
              <a:rPr lang="en-US" dirty="0"/>
              <a:t> with customer churn.</a:t>
            </a:r>
            <a:br>
              <a:rPr lang="en-US" dirty="0"/>
            </a:br>
            <a:r>
              <a:rPr lang="en-US" dirty="0"/>
              <a:t>-The Information Value falls in the </a:t>
            </a:r>
            <a:r>
              <a:rPr lang="en-US" b="1" dirty="0"/>
              <a:t>medium range</a:t>
            </a:r>
            <a:r>
              <a:rPr lang="en-US" dirty="0"/>
              <a:t>, which means it provides </a:t>
            </a:r>
            <a:r>
              <a:rPr lang="en-US" b="1" dirty="0"/>
              <a:t>useful information</a:t>
            </a:r>
            <a:r>
              <a:rPr lang="en-US" dirty="0"/>
              <a:t> about churn behavior but </a:t>
            </a:r>
            <a:r>
              <a:rPr lang="en-US" b="1" dirty="0"/>
              <a:t>cannot strongly predict churn on its own</a:t>
            </a:r>
            <a:r>
              <a:rPr lang="en-US" dirty="0"/>
              <a:t>.</a:t>
            </a:r>
          </a:p>
          <a:p>
            <a:r>
              <a:rPr lang="en-US" dirty="0"/>
              <a:t>-Such variables help in understanding customer trends and become more effective </a:t>
            </a:r>
            <a:r>
              <a:rPr lang="en-US" b="1" dirty="0"/>
              <a:t>when combined with strong predictors</a:t>
            </a:r>
            <a:r>
              <a:rPr lang="en-US" dirty="0"/>
              <a:t>. </a:t>
            </a:r>
          </a:p>
          <a:p>
            <a:r>
              <a:rPr lang="en-US" dirty="0"/>
              <a:t>-They support decision-making but should not be used as the only factor for churn prediction.</a:t>
            </a:r>
          </a:p>
          <a:p>
            <a:r>
              <a:rPr lang="en-US" dirty="0"/>
              <a:t>-Information Value in medium range (0.1 – 0.3)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235A74-A613-2F8C-4B0F-B1E8C6BC9F25}"/>
              </a:ext>
            </a:extLst>
          </p:cNvPr>
          <p:cNvSpPr txBox="1"/>
          <p:nvPr/>
        </p:nvSpPr>
        <p:spPr>
          <a:xfrm>
            <a:off x="1633415" y="237710"/>
            <a:ext cx="8667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Interpretation – Medium Prediction</a:t>
            </a:r>
            <a:endParaRPr lang="en-US" sz="3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420FD3-D29F-8B35-9EF1-4BCC14732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1860" y="903512"/>
            <a:ext cx="2515649" cy="178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731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280A3C-390D-B233-57C1-D4019E84F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001" y="930031"/>
            <a:ext cx="8183478" cy="15396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B8C836-EA21-6D1B-E6B2-29BC8360ECED}"/>
              </a:ext>
            </a:extLst>
          </p:cNvPr>
          <p:cNvSpPr txBox="1"/>
          <p:nvPr/>
        </p:nvSpPr>
        <p:spPr>
          <a:xfrm>
            <a:off x="1985108" y="249249"/>
            <a:ext cx="7760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Interpretation – Strong Prediction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345ADB-04A9-952B-0F4E-FE498E86BCE3}"/>
              </a:ext>
            </a:extLst>
          </p:cNvPr>
          <p:cNvSpPr txBox="1"/>
          <p:nvPr/>
        </p:nvSpPr>
        <p:spPr>
          <a:xfrm>
            <a:off x="461108" y="3024554"/>
            <a:ext cx="104841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-This variable shows a </a:t>
            </a:r>
            <a:r>
              <a:rPr lang="en-US" b="1" dirty="0"/>
              <a:t>strong influence</a:t>
            </a:r>
            <a:r>
              <a:rPr lang="en-US" dirty="0"/>
              <a:t> on customer churn.</a:t>
            </a:r>
            <a:br>
              <a:rPr lang="en-US" dirty="0"/>
            </a:br>
            <a:r>
              <a:rPr lang="en-US" dirty="0"/>
              <a:t>-The high Information Value indicates a </a:t>
            </a:r>
            <a:r>
              <a:rPr lang="en-US" b="1" dirty="0"/>
              <a:t>clear separation</a:t>
            </a:r>
            <a:r>
              <a:rPr lang="en-US" dirty="0"/>
              <a:t> between customers who churned and those who stayed.</a:t>
            </a:r>
          </a:p>
          <a:p>
            <a:r>
              <a:rPr lang="en-US" dirty="0"/>
              <a:t>-This means the variable is </a:t>
            </a:r>
            <a:r>
              <a:rPr lang="en-US" b="1" dirty="0"/>
              <a:t>highly reliable</a:t>
            </a:r>
            <a:r>
              <a:rPr lang="en-US" dirty="0"/>
              <a:t> for predicting churn and should be given </a:t>
            </a:r>
            <a:r>
              <a:rPr lang="en-US" b="1" dirty="0"/>
              <a:t>priority while building churn models or designing retention strategies</a:t>
            </a:r>
            <a:r>
              <a:rPr lang="en-US" dirty="0"/>
              <a:t>.</a:t>
            </a:r>
          </a:p>
          <a:p>
            <a:r>
              <a:rPr lang="en-US" dirty="0"/>
              <a:t>-IV is </a:t>
            </a:r>
            <a:r>
              <a:rPr lang="en-US" b="1" dirty="0"/>
              <a:t>high (0.3 – 0.5)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0AF2FE-042E-9DB5-8E12-58B78F244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6725" y="930031"/>
            <a:ext cx="2499948" cy="18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809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BDFE14-32B1-3779-71EC-9613131C6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579" y="742580"/>
            <a:ext cx="7267055" cy="17817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49568D-44EE-6077-5219-BF25486B8DB6}"/>
              </a:ext>
            </a:extLst>
          </p:cNvPr>
          <p:cNvSpPr txBox="1"/>
          <p:nvPr/>
        </p:nvSpPr>
        <p:spPr>
          <a:xfrm>
            <a:off x="2360246" y="225760"/>
            <a:ext cx="86594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Interpretation – Suspicious Prediction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836502-2A56-096E-88EE-36D7A8B943C7}"/>
              </a:ext>
            </a:extLst>
          </p:cNvPr>
          <p:cNvSpPr txBox="1"/>
          <p:nvPr/>
        </p:nvSpPr>
        <p:spPr>
          <a:xfrm>
            <a:off x="375138" y="3219938"/>
            <a:ext cx="1085557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-Although this variable shows a </a:t>
            </a:r>
            <a:r>
              <a:rPr lang="en-US" b="1" dirty="0"/>
              <a:t>very high Information Value</a:t>
            </a:r>
            <a:r>
              <a:rPr lang="en-US" dirty="0"/>
              <a:t>, it is classified as suspicious.</a:t>
            </a:r>
            <a:br>
              <a:rPr lang="en-US" dirty="0"/>
            </a:br>
            <a:r>
              <a:rPr lang="en-US" dirty="0"/>
              <a:t>-Such high values may occur due to </a:t>
            </a:r>
            <a:r>
              <a:rPr lang="en-US" b="1" dirty="0"/>
              <a:t>data imbalance, overfitting, or abnormal data distribution</a:t>
            </a:r>
            <a:r>
              <a:rPr lang="en-US" dirty="0"/>
              <a:t>, rather than a true relationship with churn.</a:t>
            </a:r>
          </a:p>
          <a:p>
            <a:r>
              <a:rPr lang="en-US" dirty="0"/>
              <a:t>-These variables may appear powerful but can be </a:t>
            </a:r>
            <a:r>
              <a:rPr lang="en-US" b="1" dirty="0"/>
              <a:t>misleading</a:t>
            </a:r>
            <a:r>
              <a:rPr lang="en-US" dirty="0"/>
              <a:t> and may not perform well on new data. -Therefore, they should be </a:t>
            </a:r>
            <a:r>
              <a:rPr lang="en-US" b="1" dirty="0"/>
              <a:t>validated carefully before use</a:t>
            </a:r>
            <a:r>
              <a:rPr lang="en-US" dirty="0"/>
              <a:t>.</a:t>
            </a:r>
          </a:p>
          <a:p>
            <a:r>
              <a:rPr lang="en-US" dirty="0"/>
              <a:t>-IV is </a:t>
            </a:r>
            <a:r>
              <a:rPr lang="en-US" b="1" dirty="0"/>
              <a:t>very high(&gt;0.5)</a:t>
            </a:r>
            <a:endParaRPr lang="en-US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6D88DA9D-8684-7957-E4A3-6DAC3B0DE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60" y="-30753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7CED20F5-94D4-8FB2-3FE2-316EAD18F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05E2B8BE-C660-C32F-8B9E-0E4C58C44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5CAC8E-769D-D2A4-0812-60D41A7154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3753" y="810535"/>
            <a:ext cx="2986770" cy="212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775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FC714-A517-64E2-5887-589F4EE84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Useless Variables Are Not Considered?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FA1A89-69E0-D0E6-57F5-37B88C33A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01" y="1690688"/>
            <a:ext cx="5834537" cy="15423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081AD4-D48B-02DE-6847-7F8BE42ACF40}"/>
              </a:ext>
            </a:extLst>
          </p:cNvPr>
          <p:cNvSpPr txBox="1"/>
          <p:nvPr/>
        </p:nvSpPr>
        <p:spPr>
          <a:xfrm>
            <a:off x="320431" y="3429000"/>
            <a:ext cx="1118381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-Variables classified as useless have a </a:t>
            </a:r>
            <a:r>
              <a:rPr lang="en-US" b="1" dirty="0"/>
              <a:t>very low Information Value</a:t>
            </a:r>
            <a:r>
              <a:rPr lang="en-US" dirty="0"/>
              <a:t>, which means they provide </a:t>
            </a:r>
            <a:r>
              <a:rPr lang="en-US" b="1" dirty="0"/>
              <a:t>little or no information</a:t>
            </a:r>
            <a:r>
              <a:rPr lang="en-US" dirty="0"/>
              <a:t> about customer churn.</a:t>
            </a:r>
            <a:br>
              <a:rPr lang="en-US" dirty="0"/>
            </a:br>
            <a:r>
              <a:rPr lang="en-US" dirty="0"/>
              <a:t>-These variables do not help in differentiating between customers who churn and those who stay.</a:t>
            </a:r>
          </a:p>
          <a:p>
            <a:r>
              <a:rPr lang="en-US" dirty="0"/>
              <a:t>-Including such variables can </a:t>
            </a:r>
            <a:r>
              <a:rPr lang="en-US" b="1" dirty="0"/>
              <a:t>increase complexity without improving accuracy</a:t>
            </a:r>
            <a:r>
              <a:rPr lang="en-US" dirty="0"/>
              <a:t> and may negatively affect model performance.</a:t>
            </a:r>
            <a:br>
              <a:rPr lang="en-US" dirty="0"/>
            </a:br>
            <a:r>
              <a:rPr lang="en-US" dirty="0"/>
              <a:t>-Therefore, useless variables are excluded to keep the churn analysis </a:t>
            </a:r>
            <a:r>
              <a:rPr lang="en-US" b="1" dirty="0"/>
              <a:t>efficient, accurate, and meaningful</a:t>
            </a:r>
            <a:r>
              <a:rPr lang="en-US" dirty="0"/>
              <a:t>.</a:t>
            </a:r>
          </a:p>
          <a:p>
            <a:r>
              <a:rPr lang="en-US" dirty="0"/>
              <a:t>-very low IV (&lt; 0.02)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991B5F-1DA5-4DAF-F2C4-DC94C63E5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2737" y="1397674"/>
            <a:ext cx="2893294" cy="1845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135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FDA15D-93F5-4372-9C6A-78E8FE40B538}"/>
              </a:ext>
            </a:extLst>
          </p:cNvPr>
          <p:cNvSpPr txBox="1"/>
          <p:nvPr/>
        </p:nvSpPr>
        <p:spPr>
          <a:xfrm>
            <a:off x="1023816" y="2644170"/>
            <a:ext cx="993335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u="sng" dirty="0"/>
              <a:t> </a:t>
            </a:r>
            <a:r>
              <a:rPr lang="en-US" sz="9600" b="1" i="1" u="sng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1455249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658</Words>
  <Application>Microsoft Office PowerPoint</Application>
  <PresentationFormat>Widescreen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Customer Churn Analysis</vt:lpstr>
      <vt:lpstr>Problem Statement:</vt:lpstr>
      <vt:lpstr>Objectives of the Study</vt:lpstr>
      <vt:lpstr>Dataset Description:</vt:lpstr>
      <vt:lpstr>Goal Of This Analysis:</vt:lpstr>
      <vt:lpstr>PowerPoint Presentation</vt:lpstr>
      <vt:lpstr>PowerPoint Presentation</vt:lpstr>
      <vt:lpstr>PowerPoint Presentation</vt:lpstr>
      <vt:lpstr>Why Useless Variables Are Not Considered?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falak munir</dc:creator>
  <cp:lastModifiedBy>falak munir</cp:lastModifiedBy>
  <cp:revision>1</cp:revision>
  <dcterms:created xsi:type="dcterms:W3CDTF">2026-01-26T13:35:38Z</dcterms:created>
  <dcterms:modified xsi:type="dcterms:W3CDTF">2026-01-27T09:56:42Z</dcterms:modified>
</cp:coreProperties>
</file>